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1526"/>
            </a:gs>
            <a:gs pos="100000">
              <a:srgbClr val="0A1E2E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55600" y="2286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E8EEF7"/>
                </a:solidFill>
                <a:latin typeface="MiSans"/>
                <a:ea typeface="MiSans"/>
              </a:rPr>
              <a:t>让钠电储能自己会「体检」</a:t>
            </a:r>
            <a:r>
              <a:rPr lang="en-US" sz="1500" noProof="1" b="1">
                <a:solidFill>
                  <a:srgbClr val="93A1B8"/>
                </a:solidFill>
                <a:latin typeface="MiSans"/>
                <a:ea typeface="MiSans"/>
              </a:rPr>
              <a:t>　AI 预测电池寿命,提前躲开安全风险</a:t>
            </a:r>
            <a:endParaRPr lang="en-US" sz="2800" noProof="1"/>
          </a:p>
        </p:txBody>
      </p:sp>
      <p:sp>
        <p:nvSpPr>
          <p:cNvPr id="3" name="tag"/>
          <p:cNvSpPr txBox="1"/>
          <p:nvPr/>
        </p:nvSpPr>
        <p:spPr>
          <a:xfrm>
            <a:off x="9347200" y="304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22D3A5"/>
                </a:solidFill>
                <a:latin typeface="MiSans"/>
                <a:ea typeface="MiSans"/>
              </a:rPr>
              <a:t>风象 08 天秤座 · 初焰·钠宙 S01</a:t>
            </a:r>
            <a:endParaRPr lang="en-US" sz="1100" noProof="1"/>
          </a:p>
        </p:txBody>
      </p:sp>
      <p:sp>
        <p:nvSpPr>
          <p:cNvPr id="4" name="divider"/>
          <p:cNvSpPr/>
          <p:nvPr/>
        </p:nvSpPr>
        <p:spPr>
          <a:xfrm>
            <a:off x="355600" y="812800"/>
            <a:ext cx="11531600" cy="2540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5" name="q-icon"/>
          <p:cNvSpPr/>
          <p:nvPr>
            <p:extLst>
              <p:ext uri="{F5677B7D-0D2A-4D9B-9A5C-6D8D7D0E5A5D}">
                <pptd:icon encoding="base64url">eyJpY29uTmFtZSI6ImZhczpjaXJjbGUtZXhjbGFtYXRpb24ifQ</pptd:icon>
              </p:ext>
            </p:extLst>
          </p:nvPr>
        </p:nvSpPr>
        <p:spPr>
          <a:xfrm>
            <a:off x="355600" y="1041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F05548"/>
          </a:solidFill>
          <a:ln>
            <a:noFill/>
          </a:ln>
        </p:spPr>
      </p:sp>
      <p:sp>
        <p:nvSpPr>
          <p:cNvPr id="6" name="q-label"/>
          <p:cNvSpPr txBox="1"/>
          <p:nvPr/>
        </p:nvSpPr>
        <p:spPr>
          <a:xfrm>
            <a:off x="711200" y="1041400"/>
            <a:ext cx="624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05548"/>
                </a:solidFill>
                <a:latin typeface="MiSans"/>
                <a:ea typeface="MiSans"/>
              </a:rPr>
              <a:t>问题:AIDC 工况下,电池衰减不可见</a:t>
            </a:r>
            <a:endParaRPr lang="en-US" sz="1300" noProof="1"/>
          </a:p>
        </p:txBody>
      </p:sp>
      <p:sp>
        <p:nvSpPr>
          <p:cNvPr id="7" name="q-body"/>
          <p:cNvSpPr txBox="1"/>
          <p:nvPr/>
        </p:nvSpPr>
        <p:spPr>
          <a:xfrm>
            <a:off x="711200" y="1320800"/>
            <a:ext cx="6248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93A1B8"/>
                </a:solidFill>
                <a:latin typeface="MiSans"/>
                <a:ea typeface="MiSans"/>
              </a:rPr>
              <a:t>高倍率脉冲 + 低温 + 7×24 长时运行,衰减曲线藏在运行数据里。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93A1B8"/>
                </a:solidFill>
                <a:latin typeface="MiSans"/>
                <a:ea typeface="MiSans"/>
              </a:rPr>
              <a:t>现状是「安全靠冗余、成本靠猜」——冗余容量是沉没成本,猜错了是安全事故。</a:t>
            </a:r>
            <a:endParaRPr lang="en-US" sz="1150" noProof="1"/>
          </a:p>
        </p:txBody>
      </p:sp>
      <p:sp>
        <p:nvSpPr>
          <p:cNvPr id="8" name="m-icon"/>
          <p:cNvSpPr/>
          <p:nvPr>
            <p:extLst>
              <p:ext uri="{F5677B7D-0D2A-4D9B-9A5C-6D8D7D0E5A5D}">
                <pptd:icon encoding="base64url">eyJpY29uTmFtZSI6ImZhczpnZWFycyJ9</pptd:icon>
              </p:ext>
            </p:extLst>
          </p:nvPr>
        </p:nvSpPr>
        <p:spPr>
          <a:xfrm>
            <a:off x="355600" y="20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22D3A5"/>
          </a:solidFill>
          <a:ln>
            <a:noFill/>
          </a:ln>
        </p:spPr>
      </p:sp>
      <p:sp>
        <p:nvSpPr>
          <p:cNvPr id="9" name="m-label"/>
          <p:cNvSpPr txBox="1"/>
          <p:nvPr/>
        </p:nvSpPr>
        <p:spPr>
          <a:xfrm>
            <a:off x="711200" y="2006600"/>
            <a:ext cx="624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D3A5"/>
                </a:solidFill>
                <a:latin typeface="MiSans"/>
                <a:ea typeface="MiSans"/>
              </a:rPr>
              <a:t>方法:预测 + 门控 + 校准的运维管线</a:t>
            </a:r>
            <a:endParaRPr lang="en-US" sz="1300" noProof="1"/>
          </a:p>
        </p:txBody>
      </p:sp>
      <p:sp>
        <p:nvSpPr>
          <p:cNvPr id="10" name="m-body"/>
          <p:cNvSpPr txBox="1"/>
          <p:nvPr/>
        </p:nvSpPr>
        <p:spPr>
          <a:xfrm>
            <a:off x="711200" y="2286000"/>
            <a:ext cx="6248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50" noProof="1">
                <a:solidFill>
                  <a:srgbClr val="E8EEF7"/>
                </a:solidFill>
                <a:latin typeface="MiSans"/>
                <a:ea typeface="MiSans"/>
              </a:rPr>
              <a:t>充放电曲线特征(IC 增量容量 / EIS 内阻)+ 分位数梯度提升 → 输出 SOH 点预测与 90% 区间;</a:t>
            </a:r>
            <a:endParaRPr lang="en-US" sz="1150" noProof="1"/>
          </a:p>
          <a:p>
            <a:pPr algn="l">
              <a:lnSpc>
                <a:spcPct val="150000"/>
              </a:lnSpc>
            </a:pPr>
            <a:r>
              <a:rPr lang="en-US" sz="1150" noProof="1" b="1">
                <a:solidFill>
                  <a:srgbClr val="E8EEF7"/>
                </a:solidFill>
                <a:latin typeface="MiSans"/>
                <a:ea typeface="MiSans"/>
              </a:rPr>
              <a:t>分布外门控</a:t>
            </a:r>
            <a:r>
              <a:rPr lang="en-US" sz="1150" noProof="1">
                <a:solidFill>
                  <a:srgbClr val="E8EEF7"/>
                </a:solidFill>
                <a:latin typeface="MiSans"/>
                <a:ea typeface="MiSans"/>
              </a:rPr>
              <a:t>自动识别没见过的工况 → 触发「校准观察期」:区间放宽 + 前 10 循环在线校正;</a:t>
            </a:r>
            <a:endParaRPr lang="en-US" sz="1150" noProof="1"/>
          </a:p>
          <a:p>
            <a:pPr algn="l">
              <a:lnSpc>
                <a:spcPct val="150000"/>
              </a:lnSpc>
            </a:pPr>
            <a:r>
              <a:rPr lang="en-US" sz="1150" noProof="1">
                <a:solidFill>
                  <a:srgbClr val="E8EEF7"/>
                </a:solidFill>
                <a:latin typeface="MiSans"/>
                <a:ea typeface="MiSans"/>
              </a:rPr>
              <a:t>预测区间下限驱动自适应限流,反哺充放电策略。</a:t>
            </a:r>
            <a:endParaRPr lang="en-US" sz="1150" noProof="1"/>
          </a:p>
        </p:txBody>
      </p:sp>
      <p:sp>
        <p:nvSpPr>
          <p:cNvPr id="11" name="kpi1-card"/>
          <p:cNvSpPr/>
          <p:nvPr/>
        </p:nvSpPr>
        <p:spPr>
          <a:xfrm>
            <a:off x="355600" y="3276600"/>
            <a:ext cx="3200400" cy="8382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A3A5C"/>
            </a:solidFill>
          </a:ln>
        </p:spPr>
      </p:sp>
      <p:sp>
        <p:nvSpPr>
          <p:cNvPr id="12" name="kpi1"/>
          <p:cNvSpPr txBox="1"/>
          <p:nvPr/>
        </p:nvSpPr>
        <p:spPr>
          <a:xfrm>
            <a:off x="533400" y="3352800"/>
            <a:ext cx="2844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2200" noProof="1" b="1">
                <a:solidFill>
                  <a:srgbClr val="22D3A5"/>
                </a:solidFill>
                <a:latin typeface="MiSans"/>
                <a:ea typeface="MiSans"/>
              </a:rPr>
              <a:t>0.042 Ah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93A1B8"/>
                </a:solidFill>
                <a:latin typeface="MiSans"/>
                <a:ea typeface="MiSans"/>
              </a:rPr>
              <a:t>同工况 SOH 误差 ≈2%(留一电芯验证)</a:t>
            </a:r>
            <a:endParaRPr lang="en-US" sz="1600" noProof="1"/>
          </a:p>
        </p:txBody>
      </p:sp>
      <p:sp>
        <p:nvSpPr>
          <p:cNvPr id="13" name="kpi2-card"/>
          <p:cNvSpPr/>
          <p:nvPr/>
        </p:nvSpPr>
        <p:spPr>
          <a:xfrm>
            <a:off x="3759200" y="3276600"/>
            <a:ext cx="3200400" cy="8382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A3A5C"/>
            </a:solidFill>
          </a:ln>
        </p:spPr>
      </p:sp>
      <p:sp>
        <p:nvSpPr>
          <p:cNvPr id="14" name="kpi2"/>
          <p:cNvSpPr txBox="1"/>
          <p:nvPr/>
        </p:nvSpPr>
        <p:spPr>
          <a:xfrm>
            <a:off x="3937000" y="3352800"/>
            <a:ext cx="2844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2200" noProof="1" b="1">
                <a:solidFill>
                  <a:srgbClr val="F5A623"/>
                </a:solidFill>
                <a:latin typeface="MiSans"/>
                <a:ea typeface="MiSans"/>
              </a:rPr>
              <a:t>-71%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93A1B8"/>
                </a:solidFill>
                <a:latin typeface="MiSans"/>
                <a:ea typeface="MiSans"/>
              </a:rPr>
              <a:t>4 ℃ 低温预测误差:0.299 → 0.088 Ah(校准观察期 + 物理归一化)</a:t>
            </a:r>
            <a:endParaRPr lang="en-US" sz="1600" noProof="1"/>
          </a:p>
        </p:txBody>
      </p:sp>
      <p:sp>
        <p:nvSpPr>
          <p:cNvPr id="15" name="kpi3-card"/>
          <p:cNvSpPr/>
          <p:nvPr/>
        </p:nvSpPr>
        <p:spPr>
          <a:xfrm>
            <a:off x="355600" y="4241800"/>
            <a:ext cx="3200400" cy="8382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A3A5C"/>
            </a:solidFill>
          </a:ln>
        </p:spPr>
      </p:sp>
      <p:sp>
        <p:nvSpPr>
          <p:cNvPr id="16" name="kpi3"/>
          <p:cNvSpPr txBox="1"/>
          <p:nvPr/>
        </p:nvSpPr>
        <p:spPr>
          <a:xfrm>
            <a:off x="533400" y="4318000"/>
            <a:ext cx="2844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2200" noProof="1" b="1">
                <a:solidFill>
                  <a:srgbClr val="22D3A5"/>
                </a:solidFill>
                <a:latin typeface="MiSans"/>
                <a:ea typeface="MiSans"/>
              </a:rPr>
              <a:t>95–100%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93A1B8"/>
                </a:solidFill>
                <a:latin typeface="MiSans"/>
                <a:ea typeface="MiSans"/>
              </a:rPr>
              <a:t>保形校准后 90% 区间真实覆盖率(分布内)</a:t>
            </a:r>
            <a:endParaRPr lang="en-US" sz="1600" noProof="1"/>
          </a:p>
        </p:txBody>
      </p:sp>
      <p:sp>
        <p:nvSpPr>
          <p:cNvPr id="17" name="kpi4-card"/>
          <p:cNvSpPr/>
          <p:nvPr/>
        </p:nvSpPr>
        <p:spPr>
          <a:xfrm>
            <a:off x="3759200" y="4241800"/>
            <a:ext cx="3200400" cy="8382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A3A5C"/>
            </a:solidFill>
          </a:ln>
        </p:spPr>
      </p:sp>
      <p:sp>
        <p:nvSpPr>
          <p:cNvPr id="18" name="kpi4"/>
          <p:cNvSpPr txBox="1"/>
          <p:nvPr/>
        </p:nvSpPr>
        <p:spPr>
          <a:xfrm>
            <a:off x="3937000" y="4318000"/>
            <a:ext cx="2844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2200" noProof="1" b="1">
                <a:solidFill>
                  <a:srgbClr val="F5A623"/>
                </a:solidFill>
                <a:latin typeface="MiSans"/>
                <a:ea typeface="MiSans"/>
              </a:rPr>
              <a:t>+11.2%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93A1B8"/>
                </a:solidFill>
                <a:latin typeface="MiSans"/>
                <a:ea typeface="MiSans"/>
              </a:rPr>
              <a:t>自适应限流策略寿命期总吞吐(概念验证仿真)</a:t>
            </a:r>
            <a:endParaRPr lang="en-US" sz="1600" noProof="1"/>
          </a:p>
        </p:txBody>
      </p:sp>
      <p:sp>
        <p:nvSpPr>
          <p:cNvPr id="19" name="i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355600" y="5257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20" name="i-label"/>
          <p:cNvSpPr txBox="1"/>
          <p:nvPr/>
        </p:nvSpPr>
        <p:spPr>
          <a:xfrm>
            <a:off x="711200" y="5257800"/>
            <a:ext cx="624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5A623"/>
                </a:solidFill>
                <a:latin typeface="MiSans"/>
                <a:ea typeface="MiSans"/>
              </a:rPr>
              <a:t>洞察:跨温度泛化没有免费午餐</a:t>
            </a:r>
            <a:endParaRPr lang="en-US" sz="1300" noProof="1"/>
          </a:p>
        </p:txBody>
      </p:sp>
      <p:sp>
        <p:nvSpPr>
          <p:cNvPr id="21" name="i-body"/>
          <p:cNvSpPr txBox="1"/>
          <p:nvPr/>
        </p:nvSpPr>
        <p:spPr>
          <a:xfrm>
            <a:off x="711200" y="5537200"/>
            <a:ext cx="624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E8EEF7"/>
                </a:solidFill>
                <a:latin typeface="MiSans"/>
                <a:ea typeface="MiSans"/>
              </a:rPr>
              <a:t>保形校准、集成不确定性、CORAL 域适应在温度外推下全部失效(已留痕)——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E8EEF7"/>
                </a:solidFill>
                <a:latin typeface="MiSans"/>
                <a:ea typeface="MiSans"/>
              </a:rPr>
              <a:t>「前 10 循环校准观察期」是唯一现实解,也是可写进 BMS 的运维协议。钠电低温优势(0 ℃≈95% vs 锂电 4 ℃=64%)让鸿沟收窄,但锂电预训练模型必须经过校准才能迁移。</a:t>
            </a:r>
            <a:endParaRPr lang="en-US" sz="1150" noProof="1"/>
          </a:p>
        </p:txBody>
      </p:sp>
      <p:sp>
        <p:nvSpPr>
          <p:cNvPr id="22" name="ev"/>
          <p:cNvSpPr txBox="1"/>
          <p:nvPr/>
        </p:nvSpPr>
        <p:spPr>
          <a:xfrm>
            <a:off x="355600" y="62992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950" noProof="1" b="1">
                <a:solidFill>
                  <a:srgbClr val="93A1B8"/>
                </a:solidFill>
                <a:latin typeface="MiSans"/>
                <a:ea typeface="MiSans"/>
              </a:rPr>
              <a:t>证据</a:t>
            </a:r>
            <a:r>
              <a:rPr lang="en-US" sz="950" noProof="1">
                <a:solidFill>
                  <a:srgbClr val="93A1B8"/>
                </a:solidFill>
                <a:latin typeface="MiSans"/>
                <a:ea typeface="MiSans"/>
              </a:rPr>
              <a:t>:1836 留痕 4 帖 + 开源仓库(9 轮迭代,13 脚本,全部可复跑) | 数据:NASA PCoE 19 只电芯 · 4 种工况</a:t>
            </a:r>
            <a:endParaRPr lang="en-US" sz="950" noProof="1"/>
          </a:p>
          <a:p>
            <a:pPr algn="l">
              <a:lnSpc>
                <a:spcPct val="140000"/>
              </a:lnSpc>
            </a:pPr>
            <a:r>
              <a:rPr lang="en-US" sz="950" noProof="1" b="1">
                <a:solidFill>
                  <a:srgbClr val="93A1B8"/>
                </a:solidFill>
                <a:latin typeface="MiSans"/>
                <a:ea typeface="MiSans"/>
              </a:rPr>
              <a:t>局限</a:t>
            </a:r>
            <a:r>
              <a:rPr lang="en-US" sz="950" noProof="1">
                <a:solidFill>
                  <a:srgbClr val="93A1B8"/>
                </a:solidFill>
                <a:latin typeface="MiSans"/>
                <a:ea typeface="MiSans"/>
              </a:rPr>
              <a:t>:方法在锂电公开数据上验证;钠电适配为文献外推(BatteryLife 钠电实测数据因仓库受限未能获取,已留痕)</a:t>
            </a:r>
            <a:endParaRPr lang="en-US" sz="950" noProof="1"/>
          </a:p>
        </p:txBody>
      </p:sp>
      <p:pic>
        <p:nvPicPr>
          <p:cNvPr id="23" name="fig-core"/>
          <p:cNvPicPr/>
          <p:nvPr/>
        </p:nvPicPr>
        <p:blipFill>
          <a:blip r:embed="rId2"/>
          <a:srcRect t="-154" b="-154"/>
          <a:stretch>
            <a:fillRect/>
          </a:stretch>
        </p:blipFill>
        <p:spPr>
          <a:xfrm>
            <a:off x="7315200" y="1041400"/>
            <a:ext cx="4572000" cy="3175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24" name="fig-core-border"/>
          <p:cNvSpPr/>
          <p:nvPr/>
        </p:nvSpPr>
        <p:spPr>
          <a:xfrm>
            <a:off x="7315200" y="1041400"/>
            <a:ext cx="4572000" cy="31750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A3A5C"/>
            </a:solidFill>
          </a:ln>
        </p:spPr>
      </p:sp>
      <p:pic>
        <p:nvPicPr>
          <p:cNvPr id="25" name="fig-loop"/>
          <p:cNvPicPr/>
          <p:nvPr/>
        </p:nvPicPr>
        <p:blipFill>
          <a:blip r:embed="rId3"/>
          <a:srcRect l="-248" r="-248"/>
          <a:stretch>
            <a:fillRect/>
          </a:stretch>
        </p:blipFill>
        <p:spPr>
          <a:xfrm>
            <a:off x="7315200" y="4368800"/>
            <a:ext cx="4572000" cy="15748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26" name="fig-loop-border"/>
          <p:cNvSpPr/>
          <p:nvPr/>
        </p:nvSpPr>
        <p:spPr>
          <a:xfrm>
            <a:off x="7315200" y="4368800"/>
            <a:ext cx="4572000" cy="15748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A3A5C"/>
            </a:solidFill>
          </a:ln>
        </p:spPr>
      </p:sp>
      <p:sp>
        <p:nvSpPr>
          <p:cNvPr id="27" name="fig-cap"/>
          <p:cNvSpPr txBox="1"/>
          <p:nvPr/>
        </p:nvSpPr>
        <p:spPr>
          <a:xfrm>
            <a:off x="7315200" y="60452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950" noProof="1">
                <a:solidFill>
                  <a:srgbClr val="93A1B8"/>
                </a:solidFill>
                <a:latin typeface="MiSans"/>
                <a:ea typeface="MiSans"/>
              </a:rPr>
              <a:t>上:四联证据链——同工况精度 / 低温误差阶梯 / 分布外拒识 / 闭环收益</a:t>
            </a:r>
            <a:endParaRPr lang="en-US" sz="950" noProof="1"/>
          </a:p>
          <a:p>
            <a:pPr algn="l">
              <a:lnSpc>
                <a:spcPct val="140000"/>
              </a:lnSpc>
            </a:pPr>
            <a:r>
              <a:rPr lang="en-US" sz="950" noProof="1">
                <a:solidFill>
                  <a:srgbClr val="93A1B8"/>
                </a:solidFill>
                <a:latin typeface="MiSans"/>
                <a:ea typeface="MiSans"/>
              </a:rPr>
              <a:t>下:策略闭环仿真——预测区间下限触发的自适应限流延缓寿命终点</a:t>
            </a:r>
            <a:endParaRPr lang="en-US" sz="9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</Slides>
</Properties>
</file>

<file path=docProps/core.xml><?xml version="1.0" encoding="utf-8"?>
<cp:coreProperties xmlns:dc="http://purl.org/dc/elements/1.1/" xmlns:cp="http://schemas.openxmlformats.org/package/2006/metadata/core-properties">
  <dc:title>roadshow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